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28369" y="321276"/>
            <a:ext cx="11689492" cy="6276667"/>
          </a:xfrm>
        </p:spPr>
        <p:txBody>
          <a:bodyPr>
            <a:noAutofit/>
          </a:bodyPr>
          <a:lstStyle/>
          <a:p>
            <a:r>
              <a:rPr lang="ru-RU" sz="2600" b="1" dirty="0"/>
              <a:t>ОТЧЁТ ПО ПРОИЗВОДСТВЕННОЙ </a:t>
            </a:r>
            <a:r>
              <a:rPr lang="ru-RU" sz="2600" b="1" dirty="0" smtClean="0"/>
              <a:t>ПРАКТИКЕ</a:t>
            </a:r>
            <a:br>
              <a:rPr lang="ru-RU" sz="2600" b="1" dirty="0" smtClean="0"/>
            </a:br>
            <a:r>
              <a:rPr lang="ru-RU" sz="2600" b="1" dirty="0" smtClean="0"/>
              <a:t/>
            </a:r>
            <a:br>
              <a:rPr lang="ru-RU" sz="2600" b="1" dirty="0" smtClean="0"/>
            </a:br>
            <a:r>
              <a:rPr lang="ru-RU" sz="2600" b="1" dirty="0"/>
              <a:t/>
            </a:r>
            <a:br>
              <a:rPr lang="ru-RU" sz="2600" b="1" dirty="0"/>
            </a:br>
            <a:r>
              <a:rPr lang="ru-RU" sz="2600" dirty="0" smtClean="0"/>
              <a:t>Тема</a:t>
            </a:r>
            <a:r>
              <a:rPr lang="ru-RU" sz="2600" dirty="0"/>
              <a:t>: </a:t>
            </a:r>
            <a:r>
              <a:rPr lang="ru-RU" sz="2600" b="1" dirty="0"/>
              <a:t>ПМ.04. Сопровождение и обслуживание программного обеспечения компьютерных </a:t>
            </a:r>
            <a:r>
              <a:rPr lang="ru-RU" sz="2600" b="1" dirty="0" smtClean="0"/>
              <a:t>систем</a:t>
            </a:r>
            <a:br>
              <a:rPr lang="ru-RU" sz="2600" b="1" dirty="0" smtClean="0"/>
            </a:b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/>
              <a:t>Студент: </a:t>
            </a:r>
            <a:r>
              <a:rPr lang="ru-RU" sz="2600" b="1" dirty="0"/>
              <a:t>Кононов Тимофей Александрович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/>
              <a:t>Группа: </a:t>
            </a:r>
            <a:r>
              <a:rPr lang="ru-RU" sz="2600" b="1" dirty="0"/>
              <a:t>23П-1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/>
              <a:t>Специальность: </a:t>
            </a:r>
            <a:r>
              <a:rPr lang="ru-RU" sz="2600" b="1" dirty="0"/>
              <a:t>09.02.07 Информационные системы и программирование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/>
              <a:t>Руководитель от колледжа: </a:t>
            </a:r>
            <a:r>
              <a:rPr lang="ru-RU" sz="2600" b="1" dirty="0"/>
              <a:t>Калинин Арсений Олегович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/>
              <a:t>Руководитель от организации: </a:t>
            </a:r>
            <a:r>
              <a:rPr lang="ru-RU" sz="2600" b="1" dirty="0"/>
              <a:t>Порошина Дарья Олеговна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/>
              <a:t>Место практики: </a:t>
            </a:r>
            <a:r>
              <a:rPr lang="ru-RU" sz="2600" b="1" dirty="0"/>
              <a:t>АО «Красный Якорь», г. </a:t>
            </a:r>
            <a:r>
              <a:rPr lang="ru-RU" sz="2600" b="1" dirty="0" smtClean="0"/>
              <a:t>Слободской</a:t>
            </a:r>
            <a:br>
              <a:rPr lang="ru-RU" sz="2600" b="1" dirty="0" smtClean="0"/>
            </a:b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/>
              <a:t>Год: </a:t>
            </a:r>
            <a:r>
              <a:rPr lang="ru-RU" sz="2600" b="1" dirty="0"/>
              <a:t>2026</a:t>
            </a:r>
            <a:r>
              <a:rPr lang="ru-RU" sz="2600" dirty="0"/>
              <a:t/>
            </a:r>
            <a:br>
              <a:rPr lang="ru-RU" sz="2600" dirty="0"/>
            </a:b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41967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4428" y="105126"/>
            <a:ext cx="8911687" cy="72689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ХАРАКТЕРИСТИКА ОБЪЕКТА ПРАКТИКИ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5699" y="1285103"/>
            <a:ext cx="8915400" cy="3777622"/>
          </a:xfrm>
        </p:spPr>
        <p:txBody>
          <a:bodyPr/>
          <a:lstStyle/>
          <a:p>
            <a:r>
              <a:rPr lang="ru-RU" b="1" dirty="0"/>
              <a:t>Название:</a:t>
            </a:r>
            <a:r>
              <a:rPr lang="ru-RU" dirty="0"/>
              <a:t> АО «Красный Якорь»</a:t>
            </a:r>
          </a:p>
          <a:p>
            <a:r>
              <a:rPr lang="ru-RU" b="1" dirty="0"/>
              <a:t>Юридический адрес:</a:t>
            </a:r>
            <a:r>
              <a:rPr lang="ru-RU" dirty="0"/>
              <a:t> Кировская область, г. Слободской, ул. Советская, д. 132</a:t>
            </a:r>
          </a:p>
          <a:p>
            <a:r>
              <a:rPr lang="ru-RU" b="1" dirty="0"/>
              <a:t>Специализация:</a:t>
            </a:r>
            <a:r>
              <a:rPr lang="ru-RU" dirty="0"/>
              <a:t> крупнейшее деревообрабатывающее предприятие региона, производство березовой фанеры высшего качества (поставки по всей России и на экспорт)</a:t>
            </a:r>
          </a:p>
          <a:p>
            <a:endParaRPr lang="ru-RU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351232"/>
              </p:ext>
            </p:extLst>
          </p:nvPr>
        </p:nvGraphicFramePr>
        <p:xfrm>
          <a:off x="2246184" y="3529380"/>
          <a:ext cx="8128000" cy="3066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689831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1243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  <a:latin typeface="quote-cjk-patch"/>
                        </a:rPr>
                        <a:t>Подразделение</a:t>
                      </a:r>
                    </a:p>
                  </a:txBody>
                  <a:tcPr marL="83724" marR="139540" marT="87213" marB="8721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effectLst/>
                          <a:latin typeface="quote-cjk-patch"/>
                        </a:rPr>
                        <a:t>Функции</a:t>
                      </a:r>
                    </a:p>
                  </a:txBody>
                  <a:tcPr marL="139540" marR="139540" marT="87213" marB="87213" anchor="ctr"/>
                </a:tc>
                <a:extLst>
                  <a:ext uri="{0D108BD9-81ED-4DB2-BD59-A6C34878D82A}">
                    <a16:rowId xmlns:a16="http://schemas.microsoft.com/office/drawing/2014/main" val="151560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Управленческий аппарат</a:t>
                      </a:r>
                    </a:p>
                  </a:txBody>
                  <a:tcPr marL="83724" marR="139540" marT="87213" marB="87213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Генеральный директор, бухгалтерия, отдел кадров</a:t>
                      </a:r>
                    </a:p>
                  </a:txBody>
                  <a:tcPr marL="139540" marR="83724" marT="87213" marB="87213" anchor="ctr"/>
                </a:tc>
                <a:extLst>
                  <a:ext uri="{0D108BD9-81ED-4DB2-BD59-A6C34878D82A}">
                    <a16:rowId xmlns:a16="http://schemas.microsoft.com/office/drawing/2014/main" val="1994559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Производственные цеха</a:t>
                      </a:r>
                    </a:p>
                  </a:txBody>
                  <a:tcPr marL="83724" marR="139540" marT="87213" marB="8721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err="1">
                          <a:effectLst/>
                          <a:latin typeface="quote-cjk-patch"/>
                        </a:rPr>
                        <a:t>Лущильно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-сушильные, клеильные, сортировка, упаковка</a:t>
                      </a:r>
                    </a:p>
                  </a:txBody>
                  <a:tcPr marL="139540" marR="83724" marT="87213" marB="87213" anchor="ctr"/>
                </a:tc>
                <a:extLst>
                  <a:ext uri="{0D108BD9-81ED-4DB2-BD59-A6C34878D82A}">
                    <a16:rowId xmlns:a16="http://schemas.microsoft.com/office/drawing/2014/main" val="77454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Вспомогательные службы</a:t>
                      </a:r>
                    </a:p>
                  </a:txBody>
                  <a:tcPr marL="83724" marR="139540" marT="87213" marB="8721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Технический отдел, логистика, ОТК</a:t>
                      </a:r>
                    </a:p>
                  </a:txBody>
                  <a:tcPr marL="139540" marR="83724" marT="87213" marB="87213" anchor="ctr"/>
                </a:tc>
                <a:extLst>
                  <a:ext uri="{0D108BD9-81ED-4DB2-BD59-A6C34878D82A}">
                    <a16:rowId xmlns:a16="http://schemas.microsoft.com/office/drawing/2014/main" val="1593087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ИТ-отдел</a:t>
                      </a:r>
                    </a:p>
                  </a:txBody>
                  <a:tcPr marL="83724" marR="139540" marT="87213" marB="8721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Моё место практики: администрирование сетей, 1С:ERP, поддержка пользователей</a:t>
                      </a:r>
                    </a:p>
                  </a:txBody>
                  <a:tcPr marL="139540" marR="83724" marT="87213" marB="87213" anchor="ctr"/>
                </a:tc>
                <a:extLst>
                  <a:ext uri="{0D108BD9-81ED-4DB2-BD59-A6C34878D82A}">
                    <a16:rowId xmlns:a16="http://schemas.microsoft.com/office/drawing/2014/main" val="3465347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40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06893" y="154554"/>
            <a:ext cx="7613756" cy="79279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ОПИСАНИЕ РАБОЧЕГО МЕСТА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1271" y="1285101"/>
            <a:ext cx="8915400" cy="4613189"/>
          </a:xfrm>
        </p:spPr>
        <p:txBody>
          <a:bodyPr/>
          <a:lstStyle/>
          <a:p>
            <a:r>
              <a:rPr lang="ru-RU" b="1" dirty="0"/>
              <a:t>Оборудование рабочего места:</a:t>
            </a:r>
            <a:endParaRPr lang="ru-RU" dirty="0"/>
          </a:p>
          <a:p>
            <a:pPr lvl="1"/>
            <a:r>
              <a:rPr lang="ru-RU" dirty="0"/>
              <a:t>Процессор: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/>
              <a:t>Core</a:t>
            </a:r>
            <a:r>
              <a:rPr lang="ru-RU" dirty="0"/>
              <a:t> i7-9700</a:t>
            </a:r>
          </a:p>
          <a:p>
            <a:pPr lvl="1"/>
            <a:r>
              <a:rPr lang="ru-RU" dirty="0"/>
              <a:t>Оперативная память: 16 ГБ DDR4</a:t>
            </a:r>
          </a:p>
          <a:p>
            <a:pPr lvl="1"/>
            <a:r>
              <a:rPr lang="ru-RU" dirty="0"/>
              <a:t>Накопитель: SSD 512 ГБ</a:t>
            </a:r>
          </a:p>
          <a:p>
            <a:pPr lvl="1"/>
            <a:r>
              <a:rPr lang="ru-RU" dirty="0"/>
              <a:t>Монитор: 24 дюйма (ЖК)</a:t>
            </a:r>
          </a:p>
          <a:p>
            <a:r>
              <a:rPr lang="ru-RU" b="1" dirty="0"/>
              <a:t>Периферия:</a:t>
            </a:r>
            <a:r>
              <a:rPr lang="ru-RU" dirty="0"/>
              <a:t> клавиатура, мышь, лазерный принтер</a:t>
            </a:r>
          </a:p>
          <a:p>
            <a:r>
              <a:rPr lang="ru-RU" b="1" dirty="0"/>
              <a:t>Сеть:</a:t>
            </a:r>
            <a:r>
              <a:rPr lang="ru-RU" dirty="0"/>
              <a:t> гигабитный </a:t>
            </a:r>
            <a:r>
              <a:rPr lang="ru-RU" dirty="0" err="1"/>
              <a:t>Ethernet</a:t>
            </a:r>
            <a:r>
              <a:rPr lang="ru-RU" dirty="0"/>
              <a:t> (1 Гбит/с), контролируемый доступ в Интернет</a:t>
            </a:r>
          </a:p>
          <a:p>
            <a:r>
              <a:rPr lang="ru-RU" b="1" dirty="0"/>
              <a:t>Мебель:</a:t>
            </a:r>
            <a:r>
              <a:rPr lang="ru-RU" dirty="0"/>
              <a:t> эргономичный стол и кресло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082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3812" y="88651"/>
            <a:ext cx="9195421" cy="58685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ПРОГРАММНОЕ ОБЕСПЕЧЕНИЕ ПРЕДПРИЯТИЯ</a:t>
            </a:r>
            <a:br>
              <a:rPr lang="ru-RU" b="1" dirty="0"/>
            </a:br>
            <a:r>
              <a:rPr lang="ru-RU" b="1" dirty="0"/>
              <a:t>Техническое обеспечение: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12877"/>
              </p:ext>
            </p:extLst>
          </p:nvPr>
        </p:nvGraphicFramePr>
        <p:xfrm>
          <a:off x="366050" y="675503"/>
          <a:ext cx="8358501" cy="5809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1035863063"/>
                    </a:ext>
                  </a:extLst>
                </a:gridCol>
                <a:gridCol w="3900801">
                  <a:extLst>
                    <a:ext uri="{9D8B030D-6E8A-4147-A177-3AD203B41FA5}">
                      <a16:colId xmlns:a16="http://schemas.microsoft.com/office/drawing/2014/main" val="3997188462"/>
                    </a:ext>
                  </a:extLst>
                </a:gridCol>
              </a:tblGrid>
              <a:tr h="375983">
                <a:tc>
                  <a:txBody>
                    <a:bodyPr/>
                    <a:lstStyle/>
                    <a:p>
                      <a:pPr algn="l"/>
                      <a:r>
                        <a:rPr lang="ru-RU" b="0" dirty="0" smtClean="0">
                          <a:effectLst/>
                          <a:latin typeface="quote-cjk-patch"/>
                        </a:rPr>
                        <a:t>Наименование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ПО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829483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1С</a:t>
                      </a:r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(Учебная и</a:t>
                      </a:r>
                      <a:r>
                        <a:rPr lang="ru-RU" sz="1800" b="0" i="0" kern="1200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версия 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Планирование производства, закупки, финансы, складской учёт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900719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DIRECTUM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Электронный документооборот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30120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Zabbix</a:t>
                      </a:r>
                      <a:endParaRPr lang="ru-RU" dirty="0" smtClean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Мониторинг серверов и сетевого оборудования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12719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>
                          <a:effectLst/>
                          <a:latin typeface="quote-cjk-patch"/>
                        </a:rPr>
                        <a:t>UserGate</a:t>
                      </a:r>
                      <a:r>
                        <a:rPr lang="en-US" b="0" dirty="0" smtClean="0">
                          <a:effectLst/>
                          <a:latin typeface="quote-cjk-patch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effectLst/>
                          <a:latin typeface="quote-cjk-patch"/>
                        </a:rPr>
                        <a:t>Межсетевой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экран, защита от атак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29241772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Антивирус Касперского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Централизованная защита от угроз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808135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АвтоГРАФ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Спутниковый мониторинг автотранспорта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490062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КриптоПро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CSP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effectLst/>
                          <a:latin typeface="quote-cjk-patch"/>
                        </a:rPr>
                        <a:t>Криптозащита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 ЭЦП, ЕГАИС Лес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09970502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Консультант Плюс</a:t>
                      </a:r>
                      <a:endParaRPr lang="ru-RU" dirty="0" smtClean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effectLst/>
                          <a:latin typeface="quote-cjk-patch"/>
                        </a:rPr>
                        <a:t>Справочно-правовая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система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57557384"/>
                  </a:ext>
                </a:extLst>
              </a:tr>
              <a:tr h="375983">
                <a:tc>
                  <a:txBody>
                    <a:bodyPr/>
                    <a:lstStyle/>
                    <a:p>
                      <a:r>
                        <a:rPr lang="en-US" b="0" dirty="0" smtClean="0">
                          <a:effectLst/>
                          <a:latin typeface="quote-cjk-patch"/>
                        </a:rPr>
                        <a:t>7-Zip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effectLst/>
                          <a:latin typeface="quote-cjk-patch"/>
                        </a:rPr>
                        <a:t>Архивация данных и </a:t>
                      </a:r>
                      <a:r>
                        <a:rPr lang="ru-RU" b="0" dirty="0" err="1" smtClean="0">
                          <a:effectLst/>
                          <a:latin typeface="quote-cjk-patch"/>
                        </a:rPr>
                        <a:t>бэкапов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1966876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8708076" y="1524000"/>
            <a:ext cx="34124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Серверы HP (</a:t>
            </a:r>
            <a:r>
              <a:rPr lang="ru-RU" dirty="0" err="1">
                <a:solidFill>
                  <a:srgbClr val="F9FAFB"/>
                </a:solidFill>
                <a:latin typeface="quote-cjk-patch"/>
              </a:rPr>
              <a:t>блейд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-стойка) под SQL </a:t>
            </a:r>
            <a:r>
              <a:rPr lang="ru-RU" dirty="0" err="1">
                <a:solidFill>
                  <a:srgbClr val="F9FAFB"/>
                </a:solidFill>
                <a:latin typeface="quote-cjk-patch"/>
              </a:rPr>
              <a:t>Server</a:t>
            </a: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Управляемые коммутаторы </a:t>
            </a:r>
            <a:r>
              <a:rPr lang="ru-RU" dirty="0" err="1">
                <a:solidFill>
                  <a:srgbClr val="F9FAFB"/>
                </a:solidFill>
                <a:latin typeface="quote-cjk-patch"/>
              </a:rPr>
              <a:t>Cisco</a:t>
            </a: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СХД (NAS) для резервного копирования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Бортовые ГЛОНАСС/GPS-контроллеры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708076" y="1077689"/>
            <a:ext cx="3233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F9FAFB"/>
                </a:solidFill>
                <a:latin typeface="quote-cjk-patch"/>
              </a:rPr>
              <a:t>Техническое обеспечение: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52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1664" y="302833"/>
            <a:ext cx="10091351" cy="603329"/>
          </a:xfrm>
        </p:spPr>
        <p:txBody>
          <a:bodyPr>
            <a:normAutofit fontScale="90000"/>
          </a:bodyPr>
          <a:lstStyle/>
          <a:p>
            <a:r>
              <a:rPr lang="ru-RU" sz="3100" b="1" dirty="0"/>
              <a:t>УСТАНОВКА ПРОГРАММНОГО ОБЕСПЕЧЕНИЯ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412253"/>
              </p:ext>
            </p:extLst>
          </p:nvPr>
        </p:nvGraphicFramePr>
        <p:xfrm>
          <a:off x="1581664" y="799070"/>
          <a:ext cx="8705337" cy="5687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779">
                  <a:extLst>
                    <a:ext uri="{9D8B030D-6E8A-4147-A177-3AD203B41FA5}">
                      <a16:colId xmlns:a16="http://schemas.microsoft.com/office/drawing/2014/main" val="2359136123"/>
                    </a:ext>
                  </a:extLst>
                </a:gridCol>
                <a:gridCol w="2901779">
                  <a:extLst>
                    <a:ext uri="{9D8B030D-6E8A-4147-A177-3AD203B41FA5}">
                      <a16:colId xmlns:a16="http://schemas.microsoft.com/office/drawing/2014/main" val="1851613384"/>
                    </a:ext>
                  </a:extLst>
                </a:gridCol>
                <a:gridCol w="2901779">
                  <a:extLst>
                    <a:ext uri="{9D8B030D-6E8A-4147-A177-3AD203B41FA5}">
                      <a16:colId xmlns:a16="http://schemas.microsoft.com/office/drawing/2014/main" val="1681844110"/>
                    </a:ext>
                  </a:extLst>
                </a:gridCol>
              </a:tblGrid>
              <a:tr h="383027"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quote-cjk-patch"/>
                        </a:rPr>
                        <a:t>ПО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quote-cjk-patch"/>
                        </a:rPr>
                        <a:t>Назначение установки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41885850"/>
                  </a:ext>
                </a:extLst>
              </a:tr>
              <a:tr h="969111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quote-cjk-patch"/>
                        </a:rPr>
                        <a:t>Active Directory (AD DS)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Централизованное управление пользователями и компьютерами в домене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41041089"/>
                  </a:ext>
                </a:extLst>
              </a:tr>
              <a:tr h="762673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quote-cjk-patch"/>
                        </a:rPr>
                        <a:t>XAMPP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Комплекс (Apache + MySQL + PHP) для запуска веб-сервисов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79767661"/>
                  </a:ext>
                </a:extLst>
              </a:tr>
              <a:tr h="556235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quote-cjk-patch"/>
                        </a:rPr>
                        <a:t>WordPress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Создание корпоративного портала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44095001"/>
                  </a:ext>
                </a:extLst>
              </a:tr>
              <a:tr h="556235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quote-cjk-patch"/>
                        </a:rPr>
                        <a:t>Moodle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Система электронного обучения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70825654"/>
                  </a:ext>
                </a:extLst>
              </a:tr>
              <a:tr h="556235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err="1">
                          <a:effectLst/>
                          <a:latin typeface="quote-cjk-patch"/>
                        </a:rPr>
                        <a:t>КриптоПро</a:t>
                      </a:r>
                      <a:r>
                        <a:rPr lang="ru-RU" sz="12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quote-cjk-patch"/>
                        </a:rPr>
                        <a:t>CSP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Работа с ЭЦП и криптозащитой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08471228"/>
                  </a:ext>
                </a:extLst>
              </a:tr>
              <a:tr h="570633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1С:Предприятие (</a:t>
                      </a:r>
                      <a:r>
                        <a:rPr lang="ru-RU" sz="1200" b="0" dirty="0" smtClean="0">
                          <a:effectLst/>
                          <a:latin typeface="quote-cjk-patch"/>
                        </a:rPr>
                        <a:t>учебная и версия для программиста)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Освоение разработки и конфигурирования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56408350"/>
                  </a:ext>
                </a:extLst>
              </a:tr>
              <a:tr h="762673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quote-cjk-patch"/>
                        </a:rPr>
                        <a:t>LibreHardwareMonitor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Мониторинг температуры, частот и нагрузки компонентов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54749676"/>
                  </a:ext>
                </a:extLst>
              </a:tr>
              <a:tr h="570633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Антивирус Касперского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quote-cjk-patch"/>
                        </a:rPr>
                        <a:t>Защита файловой системы и процессов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01638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62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97950" y="500284"/>
            <a:ext cx="8911687" cy="1280890"/>
          </a:xfrm>
        </p:spPr>
        <p:txBody>
          <a:bodyPr/>
          <a:lstStyle/>
          <a:p>
            <a:r>
              <a:rPr lang="en-US" dirty="0" smtClean="0"/>
              <a:t>AD DS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46" y="1067131"/>
            <a:ext cx="4359304" cy="3320309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660859" y="1067132"/>
            <a:ext cx="5469622" cy="3320309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1934725" y="3626140"/>
            <a:ext cx="3086143" cy="2866939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5"/>
          <a:stretch>
            <a:fillRect/>
          </a:stretch>
        </p:blipFill>
        <p:spPr>
          <a:xfrm>
            <a:off x="5519956" y="3507645"/>
            <a:ext cx="4202884" cy="310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2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6500" y="424085"/>
            <a:ext cx="8911687" cy="1280890"/>
          </a:xfrm>
        </p:spPr>
        <p:txBody>
          <a:bodyPr/>
          <a:lstStyle/>
          <a:p>
            <a:r>
              <a:rPr lang="en-US" dirty="0" smtClean="0"/>
              <a:t>XAMPP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5795" y="1845275"/>
            <a:ext cx="5192850" cy="4132477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9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767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88325" y="128810"/>
            <a:ext cx="8911687" cy="1280890"/>
          </a:xfrm>
        </p:spPr>
        <p:txBody>
          <a:bodyPr/>
          <a:lstStyle/>
          <a:p>
            <a:r>
              <a:rPr lang="en-US" dirty="0" smtClean="0"/>
              <a:t>WordPress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88" y="2417080"/>
            <a:ext cx="2465825" cy="3500438"/>
          </a:xfrm>
          <a:prstGeom prst="rect">
            <a:avLst/>
          </a:prstGeom>
          <a:effectLst>
            <a:outerShdw blurRad="50800" dist="50800" dir="5400000" sx="104000" sy="104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892424" y="1589087"/>
            <a:ext cx="6013451" cy="485933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9024886" y="2417080"/>
            <a:ext cx="3005189" cy="3500438"/>
          </a:xfrm>
          <a:prstGeom prst="rect">
            <a:avLst/>
          </a:prstGeom>
          <a:effectLst>
            <a:outerShdw blurRad="50800" dist="50800" dir="5400000" sx="104000" sy="104000" algn="ctr" rotWithShape="0">
              <a:srgbClr val="000000">
                <a:alpha val="9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614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21675" y="157385"/>
            <a:ext cx="8911687" cy="1280890"/>
          </a:xfrm>
        </p:spPr>
        <p:txBody>
          <a:bodyPr/>
          <a:lstStyle/>
          <a:p>
            <a:r>
              <a:rPr lang="en-US" dirty="0">
                <a:latin typeface="quote-cjk-patch"/>
              </a:rPr>
              <a:t>Moodle</a:t>
            </a:r>
            <a:br>
              <a:rPr lang="en-US" dirty="0">
                <a:latin typeface="quote-cjk-patch"/>
              </a:rPr>
            </a:b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92112" y="1323975"/>
            <a:ext cx="4646613" cy="298132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7267575" y="1061720"/>
            <a:ext cx="4789487" cy="324358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5296693" y="3081114"/>
            <a:ext cx="3941763" cy="358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1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83550" y="500285"/>
            <a:ext cx="8911687" cy="1280890"/>
          </a:xfrm>
        </p:spPr>
        <p:txBody>
          <a:bodyPr/>
          <a:lstStyle/>
          <a:p>
            <a:r>
              <a:rPr lang="ru-RU" dirty="0" err="1">
                <a:latin typeface="quote-cjk-patch"/>
              </a:rPr>
              <a:t>КриптоПро</a:t>
            </a:r>
            <a:r>
              <a:rPr lang="ru-RU" dirty="0">
                <a:latin typeface="quote-cjk-patch"/>
              </a:rPr>
              <a:t> </a:t>
            </a:r>
            <a:r>
              <a:rPr lang="en-US" dirty="0">
                <a:latin typeface="quote-cjk-patch"/>
              </a:rPr>
              <a:t>CSP</a:t>
            </a:r>
            <a:br>
              <a:rPr lang="en-US" dirty="0">
                <a:latin typeface="quote-cjk-patch"/>
              </a:rPr>
            </a:b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3850" y="1504950"/>
            <a:ext cx="3752850" cy="140970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45781" y="1504950"/>
            <a:ext cx="3857625" cy="46863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8472487" y="2143125"/>
            <a:ext cx="34385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88450" y="433610"/>
            <a:ext cx="8911687" cy="1280890"/>
          </a:xfrm>
        </p:spPr>
        <p:txBody>
          <a:bodyPr/>
          <a:lstStyle/>
          <a:p>
            <a:r>
              <a:rPr lang="ru-RU" dirty="0" smtClean="0"/>
              <a:t>1С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333500"/>
            <a:ext cx="3657600" cy="51816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437" y="1333500"/>
            <a:ext cx="3793689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2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35900" y="462185"/>
            <a:ext cx="8911687" cy="1280890"/>
          </a:xfrm>
        </p:spPr>
        <p:txBody>
          <a:bodyPr/>
          <a:lstStyle/>
          <a:p>
            <a:r>
              <a:rPr lang="en-US" dirty="0" err="1">
                <a:latin typeface="quote-cjk-patch"/>
              </a:rPr>
              <a:t>LibreHardwareMonitor</a:t>
            </a:r>
            <a:r>
              <a:rPr lang="en-US" dirty="0">
                <a:latin typeface="quote-cjk-patch"/>
              </a:rPr>
              <a:t/>
            </a:r>
            <a:br>
              <a:rPr lang="en-US" dirty="0">
                <a:latin typeface="quote-cjk-patch"/>
              </a:rPr>
            </a:b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036" y="1552575"/>
            <a:ext cx="5018764" cy="4686300"/>
          </a:xfrm>
          <a:prstGeom prst="rect">
            <a:avLst/>
          </a:prstGeom>
          <a:effectLst>
            <a:reflection blurRad="6350" stA="52000" endPos="16000" dir="5400000" sy="-100000" algn="bl" rotWithShape="0"/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8172869" y="1219200"/>
            <a:ext cx="2670549" cy="5169805"/>
          </a:xfrm>
          <a:prstGeom prst="rect">
            <a:avLst/>
          </a:prstGeom>
          <a:effectLst>
            <a:reflection stA="99000" endPos="1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</p:spTree>
    <p:extLst>
      <p:ext uri="{BB962C8B-B14F-4D97-AF65-F5344CB8AC3E}">
        <p14:creationId xmlns:p14="http://schemas.microsoft.com/office/powerpoint/2010/main" val="340429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26275" y="547910"/>
            <a:ext cx="8911687" cy="1280890"/>
          </a:xfrm>
        </p:spPr>
        <p:txBody>
          <a:bodyPr/>
          <a:lstStyle/>
          <a:p>
            <a:r>
              <a:rPr lang="ru-RU" dirty="0">
                <a:latin typeface="quote-cjk-patch"/>
              </a:rPr>
              <a:t>Антивирус Касперского</a:t>
            </a:r>
            <a:br>
              <a:rPr lang="ru-RU" dirty="0">
                <a:latin typeface="quote-cjk-patch"/>
              </a:rPr>
            </a:b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3221" y="2133600"/>
            <a:ext cx="5447384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1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8150" y="481235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КОНФИГУРАЦИЯ, ДОСТУПЫ, СОВМЕСТИМОСТЬ И КОНТРОЛЬ КАЧЕСТВА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3712" y="1762125"/>
            <a:ext cx="5535613" cy="4638675"/>
          </a:xfrm>
        </p:spPr>
        <p:txBody>
          <a:bodyPr>
            <a:normAutofit fontScale="85000" lnSpcReduction="20000"/>
          </a:bodyPr>
          <a:lstStyle/>
          <a:p>
            <a:r>
              <a:rPr lang="ru-RU" b="1"/>
              <a:t>Конфигурация и обоснование выбора:</a:t>
            </a:r>
            <a:endParaRPr lang="ru-RU"/>
          </a:p>
          <a:p>
            <a:r>
              <a:rPr lang="ru-RU" b="1"/>
              <a:t>Active Directory</a:t>
            </a:r>
            <a:r>
              <a:rPr lang="ru-RU"/>
              <a:t> — выбран для централизованного управления учётными записями и политиками безопасности</a:t>
            </a:r>
          </a:p>
          <a:p>
            <a:r>
              <a:rPr lang="ru-RU" b="1"/>
              <a:t>XAMPP</a:t>
            </a:r>
            <a:r>
              <a:rPr lang="ru-RU"/>
              <a:t> — выбран как комплексное решение «всё в одном» для быстрого развёртывания веб-сервисов</a:t>
            </a:r>
          </a:p>
          <a:p>
            <a:r>
              <a:rPr lang="ru-RU" b="1"/>
              <a:t>WordPress</a:t>
            </a:r>
            <a:r>
              <a:rPr lang="ru-RU"/>
              <a:t> — гибкая CMS, не требующая глубоких знаний программирования</a:t>
            </a:r>
          </a:p>
          <a:p>
            <a:r>
              <a:rPr lang="ru-RU" b="1"/>
              <a:t>Moodle</a:t>
            </a:r>
            <a:r>
              <a:rPr lang="ru-RU"/>
              <a:t> — специализированная платформа для электронного обучения</a:t>
            </a:r>
          </a:p>
          <a:p>
            <a:r>
              <a:rPr lang="ru-RU" b="1"/>
              <a:t>КриптоПро CSP</a:t>
            </a:r>
            <a:r>
              <a:rPr lang="ru-RU"/>
              <a:t> — сертифицированное средство криптозащиты для работы с госсистемами</a:t>
            </a:r>
          </a:p>
          <a:p>
            <a:r>
              <a:rPr lang="ru-RU" b="1"/>
              <a:t>1С:Предприятие</a:t>
            </a:r>
            <a:r>
              <a:rPr lang="ru-RU"/>
              <a:t> — учебная версия для освоения конфигурирования и разработки</a:t>
            </a:r>
          </a:p>
          <a:p>
            <a:r>
              <a:rPr lang="ru-RU" b="1"/>
              <a:t>LibreHardwareMonitor</a:t>
            </a:r>
            <a:r>
              <a:rPr lang="ru-RU"/>
              <a:t> — бесплатный инструмент для глубокого анализа аппаратной телеметрии</a:t>
            </a:r>
          </a:p>
          <a:p>
            <a:r>
              <a:rPr lang="ru-RU" b="1"/>
              <a:t>Антивирус Касперского</a:t>
            </a:r>
            <a:r>
              <a:rPr lang="ru-RU"/>
              <a:t> — надёжная защита с централизованным управлением</a:t>
            </a:r>
          </a:p>
          <a:p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132512" y="1762124"/>
            <a:ext cx="5535613" cy="46386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Доступы пользователей:</a:t>
            </a:r>
            <a:endParaRPr lang="ru-RU" dirty="0"/>
          </a:p>
          <a:p>
            <a:r>
              <a:rPr lang="ru-RU" dirty="0"/>
              <a:t>Создан пользователь </a:t>
            </a:r>
            <a:r>
              <a:rPr lang="ru-RU" b="1" dirty="0"/>
              <a:t>1C_User</a:t>
            </a:r>
            <a:endParaRPr lang="ru-RU" dirty="0"/>
          </a:p>
          <a:p>
            <a:r>
              <a:rPr lang="ru-RU" dirty="0"/>
              <a:t>Права ограничены по принципу «минимальных полномочий»</a:t>
            </a:r>
          </a:p>
          <a:p>
            <a:r>
              <a:rPr lang="ru-RU" dirty="0"/>
              <a:t>Доступ только к прикладному ПО, запрещена запись в системные папки</a:t>
            </a:r>
          </a:p>
          <a:p>
            <a:r>
              <a:rPr lang="ru-RU" b="1" dirty="0"/>
              <a:t>Совместимость:</a:t>
            </a:r>
            <a:endParaRPr lang="ru-RU" dirty="0"/>
          </a:p>
          <a:p>
            <a:r>
              <a:rPr lang="ru-RU" dirty="0"/>
              <a:t>Все службы работают без конфликтов</a:t>
            </a:r>
          </a:p>
          <a:p>
            <a:r>
              <a:rPr lang="ru-RU" dirty="0"/>
              <a:t>XAMPP как отдельный сервис не мешает системным процессам</a:t>
            </a:r>
          </a:p>
          <a:p>
            <a:r>
              <a:rPr lang="ru-RU" dirty="0"/>
              <a:t>Интеграция через стандарты </a:t>
            </a:r>
            <a:r>
              <a:rPr lang="ru-RU" dirty="0" err="1"/>
              <a:t>Kerberos</a:t>
            </a:r>
            <a:r>
              <a:rPr lang="ru-RU" dirty="0"/>
              <a:t> и DNS</a:t>
            </a:r>
          </a:p>
          <a:p>
            <a:r>
              <a:rPr lang="ru-RU" dirty="0"/>
              <a:t>Ошибок в «Просмотре событий» не зафиксировано</a:t>
            </a:r>
          </a:p>
        </p:txBody>
      </p:sp>
    </p:spTree>
    <p:extLst>
      <p:ext uri="{BB962C8B-B14F-4D97-AF65-F5344CB8AC3E}">
        <p14:creationId xmlns:p14="http://schemas.microsoft.com/office/powerpoint/2010/main" val="3915190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07200" y="366935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6611" y="1419224"/>
            <a:ext cx="9440863" cy="5172075"/>
          </a:xfrm>
        </p:spPr>
        <p:txBody>
          <a:bodyPr/>
          <a:lstStyle/>
          <a:p>
            <a:r>
              <a:rPr lang="ru-RU" b="1" dirty="0"/>
              <a:t>Цель практики достигнута: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Развёрнута и настроена программно-аппаратная инфраструктура, протестирована и защищена.</a:t>
            </a:r>
          </a:p>
          <a:p>
            <a:r>
              <a:rPr lang="ru-RU" b="1" dirty="0"/>
              <a:t>Итоги работы:</a:t>
            </a:r>
            <a:endParaRPr lang="ru-RU" dirty="0"/>
          </a:p>
          <a:p>
            <a:r>
              <a:rPr lang="ru-RU" dirty="0"/>
              <a:t>Установлена и настроена среда XAMPP (</a:t>
            </a:r>
            <a:r>
              <a:rPr lang="ru-RU" dirty="0" err="1"/>
              <a:t>Apache</a:t>
            </a:r>
            <a:r>
              <a:rPr lang="ru-RU" dirty="0"/>
              <a:t> + </a:t>
            </a:r>
            <a:r>
              <a:rPr lang="ru-RU" dirty="0" err="1"/>
              <a:t>MySQL</a:t>
            </a:r>
            <a:r>
              <a:rPr lang="ru-RU" dirty="0"/>
              <a:t>)</a:t>
            </a:r>
          </a:p>
          <a:p>
            <a:r>
              <a:rPr lang="ru-RU" dirty="0"/>
              <a:t>Развёрнуты </a:t>
            </a:r>
            <a:r>
              <a:rPr lang="ru-RU" dirty="0" err="1"/>
              <a:t>WordPress</a:t>
            </a:r>
            <a:r>
              <a:rPr lang="ru-RU" dirty="0"/>
              <a:t> и </a:t>
            </a:r>
            <a:r>
              <a:rPr lang="ru-RU" dirty="0" err="1"/>
              <a:t>Moodle</a:t>
            </a:r>
            <a:endParaRPr lang="ru-RU" dirty="0"/>
          </a:p>
          <a:p>
            <a:r>
              <a:rPr lang="ru-RU" dirty="0" smtClean="0"/>
              <a:t>Реализована </a:t>
            </a:r>
            <a:r>
              <a:rPr lang="ru-RU" dirty="0"/>
              <a:t>система защиты </a:t>
            </a:r>
          </a:p>
          <a:p>
            <a:r>
              <a:rPr lang="ru-RU" dirty="0"/>
              <a:t>Настроен мониторинг аппаратных ресурсов</a:t>
            </a:r>
          </a:p>
          <a:p>
            <a:r>
              <a:rPr lang="ru-RU" dirty="0"/>
              <a:t>Внедрена система контроля версий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583" y="3598390"/>
            <a:ext cx="3190103" cy="3190103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8345401" y="3021482"/>
            <a:ext cx="3642468" cy="647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smtClean="0"/>
              <a:t>Ссылка на </a:t>
            </a:r>
            <a:r>
              <a:rPr lang="ru-RU" b="1" dirty="0" err="1" smtClean="0"/>
              <a:t>репрозиторий</a:t>
            </a:r>
            <a:r>
              <a:rPr lang="ru-RU" b="1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961988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</TotalTime>
  <Words>623</Words>
  <Application>Microsoft Office PowerPoint</Application>
  <PresentationFormat>Широкоэкранный</PresentationFormat>
  <Paragraphs>114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quote-cjk-patch</vt:lpstr>
      <vt:lpstr>Wingdings 3</vt:lpstr>
      <vt:lpstr>Легкий дым</vt:lpstr>
      <vt:lpstr>ОТЧЁТ ПО ПРОИЗВОДСТВЕННОЙ ПРАКТИКЕ   Тема: ПМ.04. Сопровождение и обслуживание программного обеспечения компьютерных систем  Студент: Кононов Тимофей Александрович Группа: 23П-1 Специальность: 09.02.07 Информационные системы и программирование Руководитель от колледжа: Калинин Арсений Олегович Руководитель от организации: Порошина Дарья Олеговна Место практики: АО «Красный Якорь», г. Слободской  Год: 2026 </vt:lpstr>
      <vt:lpstr>ХАРАКТЕРИСТИКА ОБЪЕКТА ПРАКТИКИ </vt:lpstr>
      <vt:lpstr>ОПИСАНИЕ РАБОЧЕГО МЕСТА </vt:lpstr>
      <vt:lpstr>ПРОГРАММНОЕ ОБЕСПЕЧЕНИЕ ПРЕДПРИЯТИЯ Техническое обеспечение:</vt:lpstr>
      <vt:lpstr>УСТАНОВКА ПРОГРАММНОГО ОБЕСПЕЧЕНИЯ </vt:lpstr>
      <vt:lpstr>AD DS</vt:lpstr>
      <vt:lpstr>XAMPP</vt:lpstr>
      <vt:lpstr>WordPress</vt:lpstr>
      <vt:lpstr>Moodle </vt:lpstr>
      <vt:lpstr>КриптоПро CSP </vt:lpstr>
      <vt:lpstr>1С</vt:lpstr>
      <vt:lpstr>LibreHardwareMonitor </vt:lpstr>
      <vt:lpstr>Антивирус Касперского </vt:lpstr>
      <vt:lpstr>КОНФИГУРАЦИЯ, ДОСТУПЫ, СОВМЕСТИМОСТЬ И КОНТРОЛЬ КАЧЕСТВА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ПРОИЗВОДСТВЕННОЙ ПРАКТИКЕ   Тема: ПМ.04. Сопровождение и обслуживание программного обеспечения компьютерных систем  Студент: Кононов Тимофей Александрович Группа: 23П-1 Специальность: 09.02.07 Информационные системы и программирование Руководитель от колледжа: Калинин Арсений Олегович Руководитель от организации: Порошина Дарья Олеговна Место практики: АО «Красный Якорь», г. Слободской  Год: 2026</dc:title>
  <dc:creator>Tim Ko</dc:creator>
  <cp:lastModifiedBy>Tim Ko</cp:lastModifiedBy>
  <cp:revision>10</cp:revision>
  <dcterms:created xsi:type="dcterms:W3CDTF">2026-06-16T08:50:57Z</dcterms:created>
  <dcterms:modified xsi:type="dcterms:W3CDTF">2026-06-16T10:21:50Z</dcterms:modified>
</cp:coreProperties>
</file>